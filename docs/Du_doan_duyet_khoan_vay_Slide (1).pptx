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9" r:id="rId20"/>
    <p:sldId id="270" r:id="rId21"/>
    <p:sldId id="271" r:id="rId22"/>
    <p:sldId id="272" r:id="rId23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138"/>
          </a:solidFill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A9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HỌC MÁY CƠ BẢN  —  BÀI TẬP LỚN</a:t>
            </a:r>
            <a:endParaRPr lang="en-US" sz="1400" b="1" kern="0" spc="300" dirty="0">
              <a:solidFill>
                <a:srgbClr val="F2A9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Dự đoán Duyệt khoản vay</a:t>
            </a:r>
            <a:endParaRPr lang="en-US" sz="48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98755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Phân tích dữ liệu (EDA) · So sánh mô hình học máy · Kiến trúc hệ thống &amp; Triển khai MLOps</a:t>
            </a:r>
            <a:endParaRPr lang="en-US" sz="1600" i="1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160520"/>
            <a:ext cx="96012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Sinh viên thực hiện:  </a:t>
            </a:r>
            <a:r>
              <a:rPr lang="en-US" sz="13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Nguyễn Văn Đức (10123102)  ·  Đào Mạnh Quân (10123269)
</a:t>
            </a:r>
            <a:r>
              <a:rPr lang="en-US" sz="13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Giảng viên hướng dẫn:  </a:t>
            </a:r>
            <a:r>
              <a:rPr lang="en-US" sz="13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GV. Nguyễn Đức Tuấn Anh
</a:t>
            </a:r>
            <a:r>
              <a:rPr lang="en-US" sz="13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Trường Đại học Công nghệ Kỹ thuật Hưng Yên  ·  Lớp 12523W.2</a:t>
            </a:r>
            <a:endParaRPr lang="en-US" sz="13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692640" y="4846320"/>
            <a:ext cx="2377440" cy="2377440"/>
          </a:xfrm>
          <a:prstGeom prst="ellipse">
            <a:avLst/>
          </a:prstGeom>
          <a:solidFill>
            <a:srgbClr val="0B3D62"/>
          </a:solidFill>
        </p:spPr>
      </p:sp>
      <p:sp>
        <p:nvSpPr>
          <p:cNvPr id="9" name="Shape 7"/>
          <p:cNvSpPr/>
          <p:nvPr/>
        </p:nvSpPr>
        <p:spPr>
          <a:xfrm>
            <a:off x="10195560" y="5349240"/>
            <a:ext cx="1371600" cy="1371600"/>
          </a:xfrm>
          <a:prstGeom prst="ellipse">
            <a:avLst/>
          </a:prstGeom>
          <a:solidFill>
            <a:srgbClr val="1C7293"/>
          </a:soli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1 · TỔNG QUAN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Bài toán &amp; Bộ dữ liệu</a:t>
            </a:r>
            <a:endParaRPr lang="en-US" sz="30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55778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Bài toán Phân loại nhị phân (Supervised Classification): dự đoán một hồ sơ vay sẽ được Duyệt (Y) hay Từ chối (N), dựa trên đặc điểm cá nhân, tài chính và tín dụng của người vay.</a:t>
            </a:r>
            <a:endParaRPr lang="en-US" sz="135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3273552"/>
            <a:ext cx="128016" cy="128016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6" name="Text 4"/>
          <p:cNvSpPr txBox="1"/>
          <p:nvPr/>
        </p:nvSpPr>
        <p:spPr>
          <a:xfrm>
            <a:off x="713232" y="3081528"/>
            <a:ext cx="5394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3D6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Định lượng:  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applicantincome, coapplicantincome, loanamount, loan_amount_term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128016" cy="128016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8" name="Text 6"/>
          <p:cNvSpPr txBox="1"/>
          <p:nvPr/>
        </p:nvSpPr>
        <p:spPr>
          <a:xfrm>
            <a:off x="713232" y="3739896"/>
            <a:ext cx="5394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3D6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Định tính:  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gender, married, education, self_employed, property_area, dependents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4590288"/>
            <a:ext cx="128016" cy="128016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0" name="Text 8"/>
          <p:cNvSpPr txBox="1"/>
          <p:nvPr/>
        </p:nvSpPr>
        <p:spPr>
          <a:xfrm>
            <a:off x="713232" y="4398264"/>
            <a:ext cx="53949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3D6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Biến mục tiêu:  </a:t>
            </a:r>
            <a:r>
              <a:rPr lang="en-US" sz="12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loan_status — Y (duyệt) / N (từ chối)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0" y="1728216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600</a:t>
            </a:r>
            <a:endParaRPr lang="en-US" sz="3200" b="1" dirty="0">
              <a:solidFill>
                <a:srgbClr val="1C7293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60" y="24688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bản ghi (mẫu)</a:t>
            </a:r>
            <a:endParaRPr lang="en-US" sz="11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098280" y="16002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098280" y="1728216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13</a:t>
            </a:r>
            <a:endParaRPr lang="en-US" sz="3200" b="1" dirty="0">
              <a:solidFill>
                <a:srgbClr val="1C7293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9235440" y="24688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trường dữ liệu</a:t>
            </a:r>
            <a:endParaRPr lang="en-US" sz="11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400800" y="3200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00800" y="3328416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68.7%</a:t>
            </a:r>
            <a:endParaRPr lang="en-US" sz="3200" b="1" dirty="0">
              <a:solidFill>
                <a:srgbClr val="1C7293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537960" y="40690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hồ sơ được duyệt</a:t>
            </a:r>
            <a:endParaRPr lang="en-US" sz="11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098280" y="320040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098280" y="3328416"/>
            <a:ext cx="24688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C7293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4</a:t>
            </a:r>
            <a:endParaRPr lang="en-US" sz="3200" b="1" dirty="0">
              <a:solidFill>
                <a:srgbClr val="1C7293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235440" y="406908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mô hình so sánh</a:t>
            </a:r>
            <a:endParaRPr lang="en-US" sz="11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2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2 · PHÂN TÍCH KHÁM PHÁ DỮ LIỆU (EDA)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Biểu đồ 1: Tỷ lệ trạng thái duyệt vay</a:t>
            </a:r>
            <a:endParaRPr lang="en-US" sz="25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6263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pic>
        <p:nvPicPr>
          <p:cNvPr id="5" name="Image 0" descr="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533034"/>
            <a:ext cx="5943600" cy="461489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69164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91640"/>
            <a:ext cx="73152" cy="13716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8" name="Text 5"/>
          <p:cNvSpPr txBox="1"/>
          <p:nvPr/>
        </p:nvSpPr>
        <p:spPr>
          <a:xfrm>
            <a:off x="7132320" y="18013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Hình cho thấy gì?</a:t>
            </a:r>
            <a:endParaRPr lang="en-US" sz="1250" b="1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132320" y="2093976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Biến mục tiêu gồm 2 nhóm: được duyệt (Y) chiếm 68.7%, từ chối (N) chiếm 31.3%.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03720" y="3264408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3264408"/>
            <a:ext cx="73152" cy="137160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12" name="Text 9"/>
          <p:cNvSpPr txBox="1"/>
          <p:nvPr/>
        </p:nvSpPr>
        <p:spPr>
          <a:xfrm>
            <a:off x="7132320" y="337413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Ý nghĩa với bài toán</a:t>
            </a:r>
            <a:endParaRPr lang="en-US" sz="1250" b="1" dirty="0">
              <a:solidFill>
                <a:srgbClr val="0B3D6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132320" y="3666744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Dữ liệu mất cân bằng lớp rõ rệt (~7:3) — chỉ dùng Accuracy sẽ đánh giá sai lệch mô hình.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03720" y="4837176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4837176"/>
            <a:ext cx="73152" cy="1371600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6" name="Text 13"/>
          <p:cNvSpPr txBox="1"/>
          <p:nvPr/>
        </p:nvSpPr>
        <p:spPr>
          <a:xfrm>
            <a:off x="7132320" y="494690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Quyết định xử lý</a:t>
            </a:r>
            <a:endParaRPr lang="en-US" sz="1250" b="1" dirty="0">
              <a:solidFill>
                <a:srgbClr val="F2A9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132320" y="5239512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Mã hóa nhị phân (1/0); ưu tiên F1-score / ROC-AUC; cân nhắc class_weight khi huấn luyện.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3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2 · PHÂN TÍCH KHÁM PHÁ DỮ LIỆU (EDA)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Biểu đồ 2: Giới tính &amp; Tình trạng hôn nhân</a:t>
            </a:r>
            <a:endParaRPr lang="en-US" sz="25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6263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pic>
        <p:nvPicPr>
          <p:cNvPr id="5" name="Image 0" descr="image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174834"/>
            <a:ext cx="5943600" cy="33312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69164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91640"/>
            <a:ext cx="73152" cy="13716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8" name="Text 5"/>
          <p:cNvSpPr txBox="1"/>
          <p:nvPr/>
        </p:nvSpPr>
        <p:spPr>
          <a:xfrm>
            <a:off x="7132320" y="18013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Hình cho thấy gì?</a:t>
            </a:r>
            <a:endParaRPr lang="en-US" sz="1250" b="1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132320" y="2093976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Nam giới chiếm đa số, phần lớn đã kết hôn (~350 so với ~130 chưa kết hôn); nữ giới ít hơn và đa phần chưa kết hôn.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03720" y="3264408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3264408"/>
            <a:ext cx="73152" cy="137160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12" name="Text 9"/>
          <p:cNvSpPr txBox="1"/>
          <p:nvPr/>
        </p:nvSpPr>
        <p:spPr>
          <a:xfrm>
            <a:off x="7132320" y="337413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Ý nghĩa với bài toán</a:t>
            </a:r>
            <a:endParaRPr lang="en-US" sz="1250" b="1" dirty="0">
              <a:solidFill>
                <a:srgbClr val="0B3D6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132320" y="3666744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Phân bổ bất đối xứng mạnh theo nhân khẩu học — nguy cơ mô hình học theo thiên kiến giới tính.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03720" y="4837176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4837176"/>
            <a:ext cx="73152" cy="1371600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6" name="Text 13"/>
          <p:cNvSpPr txBox="1"/>
          <p:nvPr/>
        </p:nvSpPr>
        <p:spPr>
          <a:xfrm>
            <a:off x="7132320" y="494690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Quyết định xử lý</a:t>
            </a:r>
            <a:endParaRPr lang="en-US" sz="1250" b="1" dirty="0">
              <a:solidFill>
                <a:srgbClr val="F2A9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132320" y="5239512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Mã hóa One-Hot/Binary cho 2 biến; kiểm tra tương tác gender × married để tránh bias.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4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2 · PHÂN TÍCH KHÁM PHÁ DỮ LIỆU (EDA)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Biểu đồ 3: Học vấn &amp; Tự kinh doanh</a:t>
            </a:r>
            <a:endParaRPr lang="en-US" sz="25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6263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pic>
        <p:nvPicPr>
          <p:cNvPr id="5" name="Image 0" descr="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243928"/>
            <a:ext cx="5943600" cy="3193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69164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91640"/>
            <a:ext cx="73152" cy="13716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8" name="Text 5"/>
          <p:cNvSpPr txBox="1"/>
          <p:nvPr/>
        </p:nvSpPr>
        <p:spPr>
          <a:xfrm>
            <a:off x="7132320" y="18013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Hình cho thấy gì?</a:t>
            </a:r>
            <a:endParaRPr lang="en-US" sz="1250" b="1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132320" y="2093976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Nhóm tốt nghiệp (graduate) chiếm đa số áp đảo; ở cả hai nhóm, người làm công ăn lương vượt trội hơn nhóm tự kinh doanh.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03720" y="3264408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3264408"/>
            <a:ext cx="73152" cy="137160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12" name="Text 9"/>
          <p:cNvSpPr txBox="1"/>
          <p:nvPr/>
        </p:nvSpPr>
        <p:spPr>
          <a:xfrm>
            <a:off x="7132320" y="337413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Ý nghĩa với bài toán</a:t>
            </a:r>
            <a:endParaRPr lang="en-US" sz="1250" b="1" dirty="0">
              <a:solidFill>
                <a:srgbClr val="0B3D6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132320" y="3666744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Tệp khách hàng đồng nhất cao về học vấn; biến self_employed mất cân bằng lớn giữa 2 giá trị.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03720" y="4837176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4837176"/>
            <a:ext cx="73152" cy="1371600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6" name="Text 13"/>
          <p:cNvSpPr txBox="1"/>
          <p:nvPr/>
        </p:nvSpPr>
        <p:spPr>
          <a:xfrm>
            <a:off x="7132320" y="494690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Quyết định xử lý</a:t>
            </a:r>
            <a:endParaRPr lang="en-US" sz="1250" b="1" dirty="0">
              <a:solidFill>
                <a:srgbClr val="F2A9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132320" y="5239512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Mã hóa nhị phân (0/1) cho Education &amp; Self_Employed; kiểm tra feature importance của self_employed.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5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2 · PHÂN TÍCH KHÁM PHÁ DỮ LIỆU (EDA)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Biểu đồ 4: Số lượng người phụ thuộc</a:t>
            </a:r>
            <a:endParaRPr lang="en-US" sz="25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6263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pic>
        <p:nvPicPr>
          <p:cNvPr id="5" name="Image 0" descr="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236198"/>
            <a:ext cx="5943600" cy="32085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69164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91640"/>
            <a:ext cx="73152" cy="13716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8" name="Text 5"/>
          <p:cNvSpPr txBox="1"/>
          <p:nvPr/>
        </p:nvSpPr>
        <p:spPr>
          <a:xfrm>
            <a:off x="7132320" y="18013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Hình cho thấy gì?</a:t>
            </a:r>
            <a:endParaRPr lang="en-US" sz="1250" b="1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132320" y="2093976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Nhóm không có người phụ thuộc (0) áp đảo (~350 hồ sơ); nhóm 1 và 2 xấp xỉ nhau (~100 mỗi nhóm); nhóm 3+ ít nhất (~50).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03720" y="3264408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3264408"/>
            <a:ext cx="73152" cy="137160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12" name="Text 9"/>
          <p:cNvSpPr txBox="1"/>
          <p:nvPr/>
        </p:nvSpPr>
        <p:spPr>
          <a:xfrm>
            <a:off x="7132320" y="337413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Ý nghĩa với bài toán</a:t>
            </a:r>
            <a:endParaRPr lang="en-US" sz="1250" b="1" dirty="0">
              <a:solidFill>
                <a:srgbClr val="0B3D6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132320" y="3666744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Phần lớn người vay không gánh nặng người phụ thuộc — giảm rủi ro tài chính phát sinh.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03720" y="4837176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4837176"/>
            <a:ext cx="73152" cy="1371600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6" name="Text 13"/>
          <p:cNvSpPr txBox="1"/>
          <p:nvPr/>
        </p:nvSpPr>
        <p:spPr>
          <a:xfrm>
            <a:off x="7132320" y="494690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Quyết định xử lý</a:t>
            </a:r>
            <a:endParaRPr lang="en-US" sz="1250" b="1" dirty="0">
              <a:solidFill>
                <a:srgbClr val="F2A9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132320" y="5239512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Chuẩn hóa chuỗi '3+' thành số 3, đưa về biến thứ bậc (ordinal) hoặc số nguyên cho mô hình.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6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2 · PHÂN TÍCH KHÁM PHÁ DỮ LIỆU (EDA)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Biểu đồ 5: Khả năng duyệt vay theo Khu vực BĐS</a:t>
            </a:r>
            <a:endParaRPr lang="en-US" sz="25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600200"/>
            <a:ext cx="62636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pic>
        <p:nvPicPr>
          <p:cNvPr id="5" name="Image 0" descr="image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281761"/>
            <a:ext cx="5943600" cy="31174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03720" y="1691640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903720" y="1691640"/>
            <a:ext cx="73152" cy="13716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8" name="Text 5"/>
          <p:cNvSpPr txBox="1"/>
          <p:nvPr/>
        </p:nvSpPr>
        <p:spPr>
          <a:xfrm>
            <a:off x="7132320" y="1801368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Hình cho thấy gì?</a:t>
            </a:r>
            <a:endParaRPr lang="en-US" sz="1250" b="1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132320" y="2093976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Khu vực bán thành thị (semiurban) có tỷ lệ &amp; số lượng hồ sơ duyệt cao nhất (~180); rural có tỷ lệ duyệt/từ chối gần ngang nhau.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03720" y="3264408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3264408"/>
            <a:ext cx="73152" cy="137160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12" name="Text 9"/>
          <p:cNvSpPr txBox="1"/>
          <p:nvPr/>
        </p:nvSpPr>
        <p:spPr>
          <a:xfrm>
            <a:off x="7132320" y="3374136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D6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Ý nghĩa với bài toán</a:t>
            </a:r>
            <a:endParaRPr lang="en-US" sz="1250" b="1" dirty="0">
              <a:solidFill>
                <a:srgbClr val="0B3D6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132320" y="3666744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Property_Area có liên hệ rõ rệt với xác suất phê duyệt — semiurban rủi ro thấp hơn/được ưu tiên hơn.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903720" y="4837176"/>
            <a:ext cx="484632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03720" y="4837176"/>
            <a:ext cx="73152" cy="1371600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6" name="Text 13"/>
          <p:cNvSpPr txBox="1"/>
          <p:nvPr/>
        </p:nvSpPr>
        <p:spPr>
          <a:xfrm>
            <a:off x="7132320" y="4946904"/>
            <a:ext cx="4480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9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Quyết định xử lý</a:t>
            </a:r>
            <a:endParaRPr lang="en-US" sz="1250" b="1" dirty="0">
              <a:solidFill>
                <a:srgbClr val="F2A9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132320" y="5239512"/>
            <a:ext cx="448056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One-Hot Encoding (rural/semiurban/urban) hoặc Target Encoding để giữ trọn thông tin danh mục.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7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2 · TIỀN XỬ LÝ DỮ LIỆU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Quy trình tiền xử lý &amp; chống rò rỉ dữ liệu</a:t>
            </a:r>
            <a:endParaRPr lang="en-US" sz="30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724912" cy="40233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103120"/>
            <a:ext cx="594360" cy="594360"/>
          </a:xfrm>
          <a:prstGeom prst="ellipse">
            <a:avLst/>
          </a:prstGeom>
          <a:solidFill>
            <a:srgbClr val="0B3D62"/>
          </a:solidFill>
        </p:spPr>
      </p:sp>
      <p:sp>
        <p:nvSpPr>
          <p:cNvPr id="6" name="Text 4"/>
          <p:cNvSpPr txBox="1"/>
          <p:nvPr/>
        </p:nvSpPr>
        <p:spPr>
          <a:xfrm>
            <a:off x="685800" y="21031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1</a:t>
            </a:r>
            <a:endParaRPr lang="en-US" sz="22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58368" y="2880360"/>
            <a:ext cx="232257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Phân chia dữ liệu</a:t>
            </a:r>
            <a:endParaRPr lang="en-US" sz="1350" b="1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58368" y="3566160"/>
            <a:ext cx="2322576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Train 80% / Test 20%, random_state = 42 cố định để tái lập kết quả.</a:t>
            </a:r>
            <a:endParaRPr lang="en-US" sz="11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28416" y="1828800"/>
            <a:ext cx="2724912" cy="40233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57016" y="2103120"/>
            <a:ext cx="594360" cy="594360"/>
          </a:xfrm>
          <a:prstGeom prst="ellipse">
            <a:avLst/>
          </a:prstGeom>
          <a:solidFill>
            <a:srgbClr val="0B3D62"/>
          </a:solidFill>
        </p:spPr>
      </p:sp>
      <p:sp>
        <p:nvSpPr>
          <p:cNvPr id="11" name="Text 9"/>
          <p:cNvSpPr txBox="1"/>
          <p:nvPr/>
        </p:nvSpPr>
        <p:spPr>
          <a:xfrm>
            <a:off x="3557016" y="21031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2</a:t>
            </a:r>
            <a:endParaRPr lang="en-US" sz="22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29584" y="2880360"/>
            <a:ext cx="232257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Chuẩn hóa đặc trưng</a:t>
            </a:r>
            <a:endParaRPr lang="en-US" sz="1350" b="1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29584" y="3566160"/>
            <a:ext cx="2322576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StandardScaler đưa các đặc trưng về cùng thang đo (mean = 0, std = 1).</a:t>
            </a:r>
            <a:endParaRPr lang="en-US" sz="11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199632" y="1828800"/>
            <a:ext cx="2724912" cy="40233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28232" y="2103120"/>
            <a:ext cx="594360" cy="594360"/>
          </a:xfrm>
          <a:prstGeom prst="ellipse">
            <a:avLst/>
          </a:prstGeom>
          <a:solidFill>
            <a:srgbClr val="0B3D62"/>
          </a:solidFill>
        </p:spPr>
      </p:sp>
      <p:sp>
        <p:nvSpPr>
          <p:cNvPr id="16" name="Text 14"/>
          <p:cNvSpPr txBox="1"/>
          <p:nvPr/>
        </p:nvSpPr>
        <p:spPr>
          <a:xfrm>
            <a:off x="6428232" y="21031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3</a:t>
            </a:r>
            <a:endParaRPr lang="en-US" sz="22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00800" y="2880360"/>
            <a:ext cx="232257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Chống Data Leakage</a:t>
            </a:r>
            <a:endParaRPr lang="en-US" sz="1350" b="1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00800" y="3566160"/>
            <a:ext cx="2322576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StandardScaler chỉ fit() trên tập Train, sau đó transform() cho cả Train và Test.</a:t>
            </a:r>
            <a:endParaRPr lang="en-US" sz="11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70848" y="1828800"/>
            <a:ext cx="2724912" cy="4023360"/>
          </a:xfrm>
          <a:prstGeom prst="roundRect">
            <a:avLst>
              <a:gd name="adj" fmla="val 2685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9448" y="2103120"/>
            <a:ext cx="594360" cy="594360"/>
          </a:xfrm>
          <a:prstGeom prst="ellipse">
            <a:avLst/>
          </a:prstGeom>
          <a:solidFill>
            <a:srgbClr val="0B3D62"/>
          </a:solidFill>
        </p:spPr>
      </p:sp>
      <p:sp>
        <p:nvSpPr>
          <p:cNvPr id="21" name="Text 19"/>
          <p:cNvSpPr txBox="1"/>
          <p:nvPr/>
        </p:nvSpPr>
        <p:spPr>
          <a:xfrm>
            <a:off x="9299448" y="21031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4</a:t>
            </a:r>
            <a:endParaRPr lang="en-US" sz="22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272016" y="2880360"/>
            <a:ext cx="2322576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Đóng gói Pipeline</a:t>
            </a:r>
            <a:endParaRPr lang="en-US" sz="1350" b="1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272016" y="3566160"/>
            <a:ext cx="2322576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Toàn bộ quy trình gói trong sklearn.pipeline.Pipeline để đồng bộ train ↔ serving.</a:t>
            </a:r>
            <a:endParaRPr lang="en-US" sz="11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12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3 · THỬ NGHIỆM &amp; SO SÁNH MÔ HÌNH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So sánh 4 mô hình trên tập kiểm tra (Test set)</a:t>
            </a:r>
            <a:endParaRPr lang="en-US" sz="30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45920"/>
          <a:ext cx="11274552" cy="3447288"/>
        </p:xfrm>
        <a:graphic>
          <a:graphicData uri="http://schemas.openxmlformats.org/drawingml/2006/table">
            <a:tbl>
              <a:tblPr/>
              <a:tblGrid>
                <a:gridCol w="2148840"/>
                <a:gridCol w="1051560"/>
                <a:gridCol w="1051560"/>
                <a:gridCol w="960120"/>
                <a:gridCol w="1051560"/>
                <a:gridCol w="2551176"/>
                <a:gridCol w="2459736"/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Mô hình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Accuracy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Precision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Recall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F1-score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Tốc độ dự đoán*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Dung lượng file*</a:t>
                      </a:r>
                      <a:endParaRPr lang="en-US" sz="1150" b="1" dirty="0">
                        <a:solidFill>
                          <a:srgbClr val="FFFFFF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6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Baseline (Most Frequent)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0.6911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0.3455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0.5000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0.4086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—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KNN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0.8374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0.8406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0.7659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0.7888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Chậm nhất (so khoảng cách toàn bộ tập train)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Lớn nhất (lưu toàn bộ dữ liệu train)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3D62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Logistic Regression</a:t>
                      </a:r>
                      <a:endParaRPr lang="en-US" sz="1100" b="1" dirty="0">
                        <a:solidFill>
                          <a:srgbClr val="0B3D62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0.8618</a:t>
                      </a:r>
                      <a:endParaRPr lang="en-US" sz="1100" b="1" dirty="0">
                        <a:solidFill>
                          <a:srgbClr val="F2A93B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D62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0.8983</a:t>
                      </a:r>
                      <a:endParaRPr lang="en-US" sz="1100" b="1" dirty="0">
                        <a:solidFill>
                          <a:srgbClr val="0B3D62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3D62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0.7836</a:t>
                      </a:r>
                      <a:endParaRPr lang="en-US" sz="1100" b="1" dirty="0">
                        <a:solidFill>
                          <a:srgbClr val="0B3D62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2A93B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0.8147</a:t>
                      </a:r>
                      <a:endParaRPr lang="en-US" sz="1100" b="1" dirty="0">
                        <a:solidFill>
                          <a:srgbClr val="F2A93B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Rất nhanh (phép tính tuyến tính)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Rất nhỏ (chỉ lưu hệ số)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Decision Tree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0.8455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0.8880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0.7573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0.7882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Nhanh (duyệt cây quyết định)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Nhỏ – trung bình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Gaussian Naive Bayes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0.8455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0.8584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0.7718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0.7973</a:t>
                      </a:r>
                      <a:endParaRPr lang="en-US" sz="1100" dirty="0">
                        <a:solidFill>
                          <a:srgbClr val="1A1A1A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Rất nhanh (tính xác suất độc lập)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5B6B76"/>
                          </a:solidFill>
                          <a:latin typeface="Times New Roman" panose="02020603050405020304" charset="0"/>
                          <a:ea typeface="Calibri" panose="020F0502020204030204" pitchFamily="34" charset="-122"/>
                          <a:cs typeface="Times New Roman" panose="02020603050405020304" charset="0"/>
                        </a:rPr>
                        <a:t>Rất nhỏ (chỉ lưu tham số phân phối)</a:t>
                      </a:r>
                      <a:endParaRPr lang="en-US" sz="950" dirty="0">
                        <a:solidFill>
                          <a:srgbClr val="5B6B76"/>
                        </a:solidFill>
                        <a:latin typeface="Times New Roman" panose="02020603050405020304" charset="0"/>
                        <a:ea typeface="Calibri" panose="020F0502020204030204" pitchFamily="34" charset="-122"/>
                        <a:cs typeface="Times New Roman" panose="0202060305040502030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* Tốc độ dự đoán và dung lượng file thể hiện đặc tính định tính theo bản chất thuật toán (báo cáo không đo benchmark riêng theo từng mô hình); độ trễ phản hồi thực tế của hệ thống AI Service &lt; 20ms cho mọi mô hình đã nạp sẵn trong bộ nhớ.</a:t>
            </a:r>
            <a:endParaRPr lang="en-US" sz="950" i="1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13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A9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3 · KẾT LUẬN LỰA CHỌN MÔ HÌNH</a:t>
            </a:r>
            <a:endParaRPr lang="en-US" sz="1300" b="1" kern="0" spc="200" dirty="0">
              <a:solidFill>
                <a:srgbClr val="F2A9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Mô hình được chọn triển khai</a:t>
            </a:r>
            <a:endParaRPr lang="en-US" sz="28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206240" cy="4480560"/>
          </a:xfrm>
          <a:prstGeom prst="roundRect">
            <a:avLst>
              <a:gd name="adj" fmla="val 2174"/>
            </a:avLst>
          </a:prstGeom>
          <a:solidFill>
            <a:srgbClr val="0B2138"/>
          </a:solidFill>
          <a:ln w="19050">
            <a:solidFill>
              <a:srgbClr val="F2A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74520"/>
            <a:ext cx="37490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2A93B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Logistic Regression</a:t>
            </a:r>
            <a:endParaRPr lang="en-US" sz="2400" b="1" dirty="0">
              <a:solidFill>
                <a:srgbClr val="F2A93B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274320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Accuracy</a:t>
            </a:r>
            <a:endParaRPr lang="en-US" sz="1300" dirty="0">
              <a:solidFill>
                <a:srgbClr val="9FB3C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2834640" y="2743200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86.18%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3218688"/>
            <a:ext cx="3566160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64992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F1-score</a:t>
            </a:r>
            <a:endParaRPr lang="en-US" sz="1300" dirty="0">
              <a:solidFill>
                <a:srgbClr val="9FB3C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834640" y="3364992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0.8147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85800" y="3840480"/>
            <a:ext cx="3566160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986784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Precision</a:t>
            </a:r>
            <a:endParaRPr lang="en-US" sz="1300" dirty="0">
              <a:solidFill>
                <a:srgbClr val="9FB3C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834640" y="3986784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89.83%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4462272"/>
            <a:ext cx="3566160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608576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Recall</a:t>
            </a:r>
            <a:endParaRPr lang="en-US" sz="1300" dirty="0">
              <a:solidFill>
                <a:srgbClr val="9FB3C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834640" y="4608576"/>
            <a:ext cx="15544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78.36%</a:t>
            </a:r>
            <a:endParaRPr lang="en-US" sz="20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5084064"/>
            <a:ext cx="3566160" cy="0"/>
          </a:xfrm>
          <a:prstGeom prst="line">
            <a:avLst/>
          </a:prstGeom>
          <a:noFill/>
          <a:ln w="12700">
            <a:solidFill>
              <a:srgbClr val="2A4A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5367528"/>
            <a:ext cx="37033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Cao nhất trong 4 mô hình so sánh trên tập kiểm tra (Test set).</a:t>
            </a:r>
            <a:endParaRPr lang="en-US" sz="1150" i="1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83480" y="1600200"/>
            <a:ext cx="6720840" cy="1024128"/>
          </a:xfrm>
          <a:prstGeom prst="roundRect">
            <a:avLst>
              <a:gd name="adj" fmla="val 6250"/>
            </a:avLst>
          </a:prstGeom>
          <a:solidFill>
            <a:srgbClr val="1233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4648" y="1819656"/>
            <a:ext cx="384048" cy="38404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1" name="Text 19"/>
          <p:cNvSpPr txBox="1"/>
          <p:nvPr/>
        </p:nvSpPr>
        <p:spPr>
          <a:xfrm>
            <a:off x="5184648" y="181965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138"/>
                </a:solidFill>
                <a:latin typeface="Times New Roman" panose="020206030504050203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b="1" dirty="0">
              <a:solidFill>
                <a:srgbClr val="0B2138"/>
              </a:solidFill>
              <a:latin typeface="Times New Roman" panose="020206030504050203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5760720" y="1691640"/>
            <a:ext cx="5760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Hiệu năng toàn diện &amp; vượt trội</a:t>
            </a:r>
            <a:endParaRPr lang="en-US" sz="13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5760720" y="1984248"/>
            <a:ext cx="5806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Accuracy 86.18% — cao nhất trong 4 mô hình; F1-score 0.8147 thể hiện cân bằng tốt nhất giữa Precision và Recall.</a:t>
            </a:r>
            <a:endParaRPr lang="en-US" sz="105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83480" y="2761488"/>
            <a:ext cx="6720840" cy="1024128"/>
          </a:xfrm>
          <a:prstGeom prst="roundRect">
            <a:avLst>
              <a:gd name="adj" fmla="val 6250"/>
            </a:avLst>
          </a:prstGeom>
          <a:solidFill>
            <a:srgbClr val="1233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84648" y="2980944"/>
            <a:ext cx="384048" cy="38404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26" name="Text 24"/>
          <p:cNvSpPr txBox="1"/>
          <p:nvPr/>
        </p:nvSpPr>
        <p:spPr>
          <a:xfrm>
            <a:off x="5184648" y="298094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138"/>
                </a:solidFill>
                <a:latin typeface="Times New Roman" panose="020206030504050203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b="1" dirty="0">
              <a:solidFill>
                <a:srgbClr val="0B2138"/>
              </a:solidFill>
              <a:latin typeface="Times New Roman" panose="020206030504050203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760720" y="2852928"/>
            <a:ext cx="5760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Hạn chế rủi ro duyệt nhầm</a:t>
            </a:r>
            <a:endParaRPr lang="en-US" sz="13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5760720" y="3145536"/>
            <a:ext cx="5806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Precision 89.83% giúp giảm tối đa việc duyệt nhầm hồ sơ rủi ro cao, trong khi Recall 78.36% vẫn giữ tỷ lệ nhận diện hồ sơ tốt vượt trội.</a:t>
            </a:r>
            <a:endParaRPr lang="en-US" sz="105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983480" y="3922776"/>
            <a:ext cx="6720840" cy="1024128"/>
          </a:xfrm>
          <a:prstGeom prst="roundRect">
            <a:avLst>
              <a:gd name="adj" fmla="val 6250"/>
            </a:avLst>
          </a:prstGeom>
          <a:solidFill>
            <a:srgbClr val="1233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84648" y="4142232"/>
            <a:ext cx="384048" cy="38404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31" name="Text 29"/>
          <p:cNvSpPr txBox="1"/>
          <p:nvPr/>
        </p:nvSpPr>
        <p:spPr>
          <a:xfrm>
            <a:off x="5184648" y="414223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138"/>
                </a:solidFill>
                <a:latin typeface="Times New Roman" panose="020206030504050203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b="1" dirty="0">
              <a:solidFill>
                <a:srgbClr val="0B2138"/>
              </a:solidFill>
              <a:latin typeface="Times New Roman" panose="020206030504050203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5760720" y="4014216"/>
            <a:ext cx="5760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Nhẹ &amp; suy luận nhanh</a:t>
            </a:r>
            <a:endParaRPr lang="en-US" sz="13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5760720" y="4306824"/>
            <a:ext cx="5806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Chỉ lưu trọng số tuyến tính (model.joblib nhỏ gọn), phù hợp để AI Service nạp sẵn trong bộ nhớ và phản hồi &lt; 20ms.</a:t>
            </a:r>
            <a:endParaRPr lang="en-US" sz="105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983480" y="5084064"/>
            <a:ext cx="6720840" cy="1024128"/>
          </a:xfrm>
          <a:prstGeom prst="roundRect">
            <a:avLst>
              <a:gd name="adj" fmla="val 6250"/>
            </a:avLst>
          </a:prstGeom>
          <a:solidFill>
            <a:srgbClr val="123350"/>
          </a:solidFill>
          <a:ln w="12700">
            <a:solidFill>
              <a:srgbClr val="2A4A6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184648" y="5303520"/>
            <a:ext cx="384048" cy="38404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36" name="Text 34"/>
          <p:cNvSpPr txBox="1"/>
          <p:nvPr/>
        </p:nvSpPr>
        <p:spPr>
          <a:xfrm>
            <a:off x="5184648" y="53035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138"/>
                </a:solidFill>
                <a:latin typeface="Times New Roman" panose="0202060305040502030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500" b="1" dirty="0">
              <a:solidFill>
                <a:srgbClr val="0B2138"/>
              </a:solidFill>
              <a:latin typeface="Times New Roman" panose="0202060305040502030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5760720" y="5175504"/>
            <a:ext cx="5760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Dễ triển khai &amp; diễn giải</a:t>
            </a:r>
            <a:endParaRPr lang="en-US" sz="13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5760720" y="5468112"/>
            <a:ext cx="5806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Kết quả dạng xác suất trực quan cho người dùng cuối; đóng gói gọn trong Pipeline sklearn đồng bộ train ↔ serving.</a:t>
            </a:r>
            <a:endParaRPr lang="en-US" sz="1050" dirty="0">
              <a:solidFill>
                <a:srgbClr val="CADCFC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9FB3C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14</a:t>
            </a:r>
            <a:endParaRPr lang="en-US" sz="900" dirty="0">
              <a:solidFill>
                <a:srgbClr val="9FB3C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4 · KIẾN TRÚC HỆ THỐNG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Kiến trúc hệ thống — 3 Container Docker</a:t>
            </a:r>
            <a:endParaRPr lang="en-US" sz="30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2225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1C7293"/>
          </a:solidFill>
        </p:spPr>
      </p:sp>
      <p:sp>
        <p:nvSpPr>
          <p:cNvPr id="6" name="Shape 4"/>
          <p:cNvSpPr/>
          <p:nvPr/>
        </p:nvSpPr>
        <p:spPr>
          <a:xfrm>
            <a:off x="548640" y="2176272"/>
            <a:ext cx="3291840" cy="292608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FRONTEND</a:t>
            </a:r>
            <a:endParaRPr lang="en-US" sz="15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65176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Cổng 3000</a:t>
            </a:r>
            <a:endParaRPr lang="en-US" sz="1500" b="1" dirty="0">
              <a:solidFill>
                <a:srgbClr val="1C7293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3063240"/>
            <a:ext cx="29260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Giao diện Web HTML/CSS hiện đại. Menu Dropdown cho phép chọn 1 trong 4 mô hình để so sánh kết quả dự đoán trực quan.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34840" y="187452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2225">
            <a:solidFill>
              <a:srgbClr val="0B3D62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874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0B3D62"/>
          </a:solidFill>
        </p:spPr>
      </p:sp>
      <p:sp>
        <p:nvSpPr>
          <p:cNvPr id="12" name="Shape 10"/>
          <p:cNvSpPr/>
          <p:nvPr/>
        </p:nvSpPr>
        <p:spPr>
          <a:xfrm>
            <a:off x="4434840" y="2176272"/>
            <a:ext cx="3291840" cy="292608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13" name="Text 11"/>
          <p:cNvSpPr txBox="1"/>
          <p:nvPr/>
        </p:nvSpPr>
        <p:spPr>
          <a:xfrm>
            <a:off x="4434840" y="187452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BACKEND GATEWAY</a:t>
            </a:r>
            <a:endParaRPr lang="en-US" sz="15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617720" y="265176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D62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Cổng 8000</a:t>
            </a:r>
            <a:endParaRPr lang="en-US" sz="1500" b="1" dirty="0">
              <a:solidFill>
                <a:srgbClr val="0B3D62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617720" y="3063240"/>
            <a:ext cx="29260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FastAPI Gateway trung gian: validate dữ liệu đầu vào theo schema.json, tự sinh request_id tracing, ghi log thời gian thực.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21040" y="1874520"/>
            <a:ext cx="32918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2225">
            <a:solidFill>
              <a:srgbClr val="F2A93B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1874520"/>
            <a:ext cx="3291840" cy="594360"/>
          </a:xfrm>
          <a:prstGeom prst="roundRect">
            <a:avLst>
              <a:gd name="adj" fmla="val 12308"/>
            </a:avLst>
          </a:prstGeom>
          <a:solidFill>
            <a:srgbClr val="F2A93B"/>
          </a:solidFill>
        </p:spPr>
      </p:sp>
      <p:sp>
        <p:nvSpPr>
          <p:cNvPr id="18" name="Shape 16"/>
          <p:cNvSpPr/>
          <p:nvPr/>
        </p:nvSpPr>
        <p:spPr>
          <a:xfrm>
            <a:off x="8321040" y="2176272"/>
            <a:ext cx="3291840" cy="292608"/>
          </a:xfrm>
          <a:prstGeom prst="rect">
            <a:avLst/>
          </a:prstGeom>
          <a:solidFill>
            <a:srgbClr val="F2A93B"/>
          </a:solidFill>
        </p:spPr>
      </p:sp>
      <p:sp>
        <p:nvSpPr>
          <p:cNvPr id="19" name="Text 17"/>
          <p:cNvSpPr txBox="1"/>
          <p:nvPr/>
        </p:nvSpPr>
        <p:spPr>
          <a:xfrm>
            <a:off x="8321040" y="1874520"/>
            <a:ext cx="32918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AI SERVICE</a:t>
            </a:r>
            <a:endParaRPr lang="en-US" sz="1500" b="1" dirty="0">
              <a:solidFill>
                <a:srgbClr val="FFFFFF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8503920" y="2651760"/>
            <a:ext cx="29260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A93B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Cổng 8001</a:t>
            </a:r>
            <a:endParaRPr lang="en-US" sz="1500" b="1" dirty="0">
              <a:solidFill>
                <a:srgbClr val="F2A93B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503920" y="3063240"/>
            <a:ext cx="29260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FastAPI Engine nạp sẵn 4 file .joblib vào bộ nhớ ngay khi khởi động container — đảm bảo độ trễ phản hồi &lt; 20ms.</a:t>
            </a:r>
            <a:endParaRPr lang="en-US" sz="1100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858768" y="3369564"/>
            <a:ext cx="192024" cy="256032"/>
          </a:xfrm>
          <a:prstGeom prst="rightArrow">
            <a:avLst/>
          </a:prstGeom>
          <a:solidFill>
            <a:srgbClr val="5B6B76"/>
          </a:solidFill>
        </p:spPr>
      </p:sp>
      <p:sp>
        <p:nvSpPr>
          <p:cNvPr id="23" name="Shape 21"/>
          <p:cNvSpPr/>
          <p:nvPr/>
        </p:nvSpPr>
        <p:spPr>
          <a:xfrm>
            <a:off x="7744968" y="3369564"/>
            <a:ext cx="192024" cy="256032"/>
          </a:xfrm>
          <a:prstGeom prst="rightArrow">
            <a:avLst/>
          </a:prstGeom>
          <a:solidFill>
            <a:srgbClr val="5B6B76"/>
          </a:solidFill>
        </p:spPr>
      </p:sp>
      <p:sp>
        <p:nvSpPr>
          <p:cNvPr id="24" name="Text 22"/>
          <p:cNvSpPr txBox="1"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solidFill>
            <a:srgbClr val="0B2138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Times New Roman" panose="02020603050405020304" charset="0"/>
                <a:ea typeface="Courier New" panose="02070309020205020404" pitchFamily="34" charset="-122"/>
                <a:cs typeface="Times New Roman" panose="02020603050405020304" charset="0"/>
              </a:rPr>
              <a:t>docker compose up --build -d</a:t>
            </a:r>
            <a:endParaRPr lang="en-US" sz="1250" dirty="0">
              <a:solidFill>
                <a:srgbClr val="FFFFFF"/>
              </a:solidFill>
              <a:latin typeface="Times New Roman" panose="02020603050405020304" charset="0"/>
              <a:ea typeface="Courier New" panose="02070309020205020404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Toàn bộ hệ thống được container hóa hoàn toàn bằng Docker, khởi chạy đồng thời với một lệnh duy nhất.</a:t>
            </a:r>
            <a:endParaRPr lang="en-US" sz="1100" i="1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15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CHƯƠNG 4 · LUỒNG XỬ LÝ</a:t>
            </a:r>
            <a:endParaRPr lang="en-US" sz="1300" b="1" kern="0" spc="200" dirty="0">
              <a:solidFill>
                <a:srgbClr val="1C7293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1A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Luồng dự đoán một hồ sơ vay (Request → Response)</a:t>
            </a:r>
            <a:endParaRPr lang="en-US" sz="3000" b="1" dirty="0">
              <a:solidFill>
                <a:srgbClr val="1A1A1A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13055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6" name="Text 4"/>
          <p:cNvSpPr txBox="1"/>
          <p:nvPr/>
        </p:nvSpPr>
        <p:spPr>
          <a:xfrm>
            <a:off x="713232" y="213055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1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13232" y="2743200"/>
            <a:ext cx="22311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Người dùng nhập hồ sơ</a:t>
            </a:r>
            <a:endParaRPr lang="en-US" sz="1200" b="1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13232" y="3200400"/>
            <a:ext cx="223113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Nhập thông tin cá nhân &amp; tài chính trên giao diện Frontend, chọn 1 trong 4 mô hình.</a:t>
            </a:r>
            <a:endParaRPr lang="en-US" sz="95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27248" y="2807208"/>
            <a:ext cx="219456" cy="237744"/>
          </a:xfrm>
          <a:prstGeom prst="rightArrow">
            <a:avLst/>
          </a:prstGeom>
          <a:solidFill>
            <a:srgbClr val="1C7293"/>
          </a:solidFill>
        </p:spPr>
      </p:sp>
      <p:sp>
        <p:nvSpPr>
          <p:cNvPr id="10" name="Shape 8"/>
          <p:cNvSpPr/>
          <p:nvPr/>
        </p:nvSpPr>
        <p:spPr>
          <a:xfrm>
            <a:off x="3364992" y="19659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9584" y="2130552"/>
            <a:ext cx="502920" cy="502920"/>
          </a:xfrm>
          <a:prstGeom prst="ellipse">
            <a:avLst/>
          </a:prstGeom>
          <a:solidFill>
            <a:srgbClr val="0B3D62"/>
          </a:solidFill>
        </p:spPr>
      </p:sp>
      <p:sp>
        <p:nvSpPr>
          <p:cNvPr id="12" name="Text 10"/>
          <p:cNvSpPr txBox="1"/>
          <p:nvPr/>
        </p:nvSpPr>
        <p:spPr>
          <a:xfrm>
            <a:off x="3529584" y="213055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2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29584" y="2743200"/>
            <a:ext cx="22311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Validate &amp; gắn request_id</a:t>
            </a:r>
            <a:endParaRPr lang="en-US" sz="1200" b="1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529584" y="3200400"/>
            <a:ext cx="223113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Backend Gateway kiểm tra dữ liệu theo schema.json, sinh request_id để truy vết &amp; log.</a:t>
            </a:r>
            <a:endParaRPr lang="en-US" sz="95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0" y="2807208"/>
            <a:ext cx="219456" cy="237744"/>
          </a:xfrm>
          <a:prstGeom prst="rightArrow">
            <a:avLst/>
          </a:prstGeom>
          <a:solidFill>
            <a:srgbClr val="1C7293"/>
          </a:solidFill>
        </p:spPr>
      </p:sp>
      <p:sp>
        <p:nvSpPr>
          <p:cNvPr id="16" name="Shape 14"/>
          <p:cNvSpPr/>
          <p:nvPr/>
        </p:nvSpPr>
        <p:spPr>
          <a:xfrm>
            <a:off x="6181344" y="19659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45936" y="2130552"/>
            <a:ext cx="502920" cy="502920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8" name="Text 16"/>
          <p:cNvSpPr txBox="1"/>
          <p:nvPr/>
        </p:nvSpPr>
        <p:spPr>
          <a:xfrm>
            <a:off x="6345936" y="213055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3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345936" y="2743200"/>
            <a:ext cx="22311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Suy luận mô hình</a:t>
            </a:r>
            <a:endParaRPr lang="en-US" sz="1200" b="1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345936" y="3200400"/>
            <a:ext cx="223113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AI Service nạp sẵn .joblib trong bộ nhớ, chạy Pipeline (scaler + model) trả xác suất duyệt.</a:t>
            </a:r>
            <a:endParaRPr lang="en-US" sz="95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759952" y="2807208"/>
            <a:ext cx="219456" cy="237744"/>
          </a:xfrm>
          <a:prstGeom prst="rightArrow">
            <a:avLst/>
          </a:prstGeom>
          <a:solidFill>
            <a:srgbClr val="1C7293"/>
          </a:solidFill>
        </p:spPr>
      </p:sp>
      <p:sp>
        <p:nvSpPr>
          <p:cNvPr id="22" name="Shape 20"/>
          <p:cNvSpPr/>
          <p:nvPr/>
        </p:nvSpPr>
        <p:spPr>
          <a:xfrm>
            <a:off x="8997696" y="1965960"/>
            <a:ext cx="25603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62288" y="2130552"/>
            <a:ext cx="502920" cy="502920"/>
          </a:xfrm>
          <a:prstGeom prst="ellipse">
            <a:avLst/>
          </a:prstGeom>
          <a:solidFill>
            <a:srgbClr val="3E8E5A"/>
          </a:solidFill>
        </p:spPr>
      </p:sp>
      <p:sp>
        <p:nvSpPr>
          <p:cNvPr id="24" name="Text 22"/>
          <p:cNvSpPr txBox="1"/>
          <p:nvPr/>
        </p:nvSpPr>
        <p:spPr>
          <a:xfrm>
            <a:off x="9162288" y="2130552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4</a:t>
            </a:r>
            <a:endParaRPr lang="en-US" sz="18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162288" y="2743200"/>
            <a:ext cx="2231136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Trả kết quả cho người dùng</a:t>
            </a:r>
            <a:endParaRPr lang="en-US" sz="1200" b="1" dirty="0">
              <a:solidFill>
                <a:srgbClr val="1A1A1A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9162288" y="3200400"/>
            <a:ext cx="2231136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Backend trả JSON kết quả; Frontend hiển thị xác suất duyệt &amp; lưu lịch sử dự đoán.</a:t>
            </a:r>
            <a:endParaRPr lang="en-US" sz="95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737360" y="4058920"/>
            <a:ext cx="8686800" cy="252476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blurRad="76200" dist="25400" dir="5400000" algn="bl" rotWithShape="0">
              <a:srgbClr val="44576B">
                <a:alpha val="18000"/>
              </a:srgbClr>
            </a:outerShdw>
          </a:effectLst>
        </p:spPr>
      </p:sp>
      <p:pic>
        <p:nvPicPr>
          <p:cNvPr id="29" name="Image 0" descr="image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4040" y="4059555"/>
            <a:ext cx="8503920" cy="2505075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6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16</a:t>
            </a:r>
            <a:endParaRPr lang="en-US" sz="900" dirty="0">
              <a:solidFill>
                <a:srgbClr val="5B6B76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1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18872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charset="0"/>
                <a:ea typeface="Bookman Old Style" pitchFamily="34" charset="-122"/>
                <a:cs typeface="Times New Roman" panose="02020603050405020304" charset="0"/>
              </a:rPr>
              <a:t>Kết luận</a:t>
            </a:r>
            <a:endParaRPr lang="en-US" sz="3400" b="1" dirty="0">
              <a:solidFill>
                <a:srgbClr val="FFFFFF"/>
              </a:solidFill>
              <a:latin typeface="Times New Roman" panose="02020603050405020304" charset="0"/>
              <a:ea typeface="Bookman Old Style" pitchFamily="34" charset="-122"/>
              <a:cs typeface="Times New Roman" panose="0202060305040502030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965960"/>
            <a:ext cx="219456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2432304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5" name="Text 3"/>
          <p:cNvSpPr txBox="1"/>
          <p:nvPr/>
        </p:nvSpPr>
        <p:spPr>
          <a:xfrm>
            <a:off x="1097280" y="2267712"/>
            <a:ext cx="9692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CF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Hệ thống dự đoán duyệt khoản vay hoàn chỉnh theo quy trình MLOps End-to-End: EDA → tiền xử lý → huấn luyện → đóng gói → triển khai.</a:t>
            </a:r>
            <a:endParaRPr lang="en-US" sz="1350" dirty="0">
              <a:solidFill>
                <a:srgbClr val="E4ECF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3300984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7" name="Text 5"/>
          <p:cNvSpPr txBox="1"/>
          <p:nvPr/>
        </p:nvSpPr>
        <p:spPr>
          <a:xfrm>
            <a:off x="1097280" y="3136392"/>
            <a:ext cx="9692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CF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Logistic Regression được chọn triển khai chính với Accuracy 86.18% và F1-score 0.8147 — cao nhất trong 4 mô hình so sánh.</a:t>
            </a:r>
            <a:endParaRPr lang="en-US" sz="1350" dirty="0">
              <a:solidFill>
                <a:srgbClr val="E4ECF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169664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9" name="Text 7"/>
          <p:cNvSpPr txBox="1"/>
          <p:nvPr/>
        </p:nvSpPr>
        <p:spPr>
          <a:xfrm>
            <a:off x="1097280" y="4005072"/>
            <a:ext cx="9692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CF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Kiến trúc 3 container Docker độc lập (Frontend, Backend Gateway, AI Service), triển khai trực tuyến 24/7 qua Ngrok Static Domain.</a:t>
            </a:r>
            <a:endParaRPr lang="en-US" sz="1350" dirty="0">
              <a:solidFill>
                <a:srgbClr val="E4ECF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5038344"/>
            <a:ext cx="109728" cy="109728"/>
          </a:xfrm>
          <a:prstGeom prst="ellipse">
            <a:avLst/>
          </a:prstGeom>
          <a:solidFill>
            <a:srgbClr val="F2A93B"/>
          </a:solidFill>
        </p:spPr>
      </p:sp>
      <p:sp>
        <p:nvSpPr>
          <p:cNvPr id="11" name="Text 9"/>
          <p:cNvSpPr txBox="1"/>
          <p:nvPr/>
        </p:nvSpPr>
        <p:spPr>
          <a:xfrm>
            <a:off x="1097280" y="4873752"/>
            <a:ext cx="969264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ECF2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Hạn chế: tập dữ liệu còn nhỏ (600 mẫu) và mất cân bằng lớp (68.7% / 31.3%) — hướng phát triển: SMOTE, Ensemble (Random Forest, XGBoost), tích hợp CSDL &amp; Model Monitoring.</a:t>
            </a:r>
            <a:endParaRPr lang="en-US" sz="1350" dirty="0">
              <a:solidFill>
                <a:srgbClr val="E4ECF2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22960" y="603504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2A93B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Demo trực tuyến: reclusive-coexist-garage.ngrok-free.dev</a:t>
            </a:r>
            <a:endParaRPr lang="en-US" sz="1200" i="1" dirty="0">
              <a:solidFill>
                <a:srgbClr val="F2A93B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Dự đoán duyệt khoản vay  •  Nhóm 03  •  Học máy cơ bản</a:t>
            </a:r>
            <a:endParaRPr lang="en-US" sz="900" dirty="0">
              <a:solidFill>
                <a:srgbClr val="9FB3C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3C0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17</a:t>
            </a:r>
            <a:endParaRPr lang="en-US" sz="900" dirty="0">
              <a:solidFill>
                <a:srgbClr val="9FB3C0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000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C7293"/>
                </a:solidFill>
                <a:latin typeface="Times New Roman"/>
              </a:rPr>
              <a:t>CHƯƠNG 2 · TIỀN XỬ LÝ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Times New Roman"/>
              </a:rPr>
              <a:t>Bước 1: Tải và khám phá dữ liệu ban đầu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794"/>
                </a:solidFill>
                <a:latin typeface="Times New Roman"/>
              </a:rPr>
              <a:t>Dự đoán duyệt khoản vay  •  Nhóm 03  •  Học máy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794"/>
                </a:solidFill>
                <a:latin typeface="Times New Roman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50000"/>
            <a:ext cx="112471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Times New Roman"/>
              </a:rPr>
              <a:t>Nạp bộ dữ liệu 600 bản ghi × 13 trường và kiểm tra tổng quan trước khi xử lý.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50000"/>
            <a:ext cx="356000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07200" y="2700000"/>
            <a:ext cx="560000" cy="5600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7200" y="2700000"/>
            <a:ext cx="56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200" y="3450000"/>
            <a:ext cx="306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C7293"/>
                </a:solidFill>
                <a:latin typeface="Times New Roman"/>
              </a:rPr>
              <a:t>Kích thước &amp; kiểu dữ liệu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200" y="4000000"/>
            <a:ext cx="306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Đọc file CSV bằng pandas, xem df.shape, df.head(), df.info().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Phân loại 4 biến định lượng và 6 biến định tính; biến mục tiêu là loan_status.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0200" y="2450000"/>
            <a:ext cx="356000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0200" y="2700000"/>
            <a:ext cx="560000" cy="560000"/>
          </a:xfrm>
          <a:prstGeom prst="ellipse">
            <a:avLst/>
          </a:prstGeom>
          <a:solidFill>
            <a:srgbClr val="0B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0200" y="2700000"/>
            <a:ext cx="56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0200" y="3450000"/>
            <a:ext cx="306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0B3D62"/>
                </a:solidFill>
                <a:latin typeface="Times New Roman"/>
              </a:rPr>
              <a:t>Giá trị thiếu &amp; trùng lặp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0200" y="4000000"/>
            <a:ext cx="306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Thống kê df.isnull().sum() để tìm cột thiếu dữ liệu.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Kiểm tra bản ghi trùng lặp và giá trị bất thường trước khi xử lý.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3200" y="2450000"/>
            <a:ext cx="3560000" cy="29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93200" y="2700000"/>
            <a:ext cx="560000" cy="560000"/>
          </a:xfrm>
          <a:prstGeom prst="ellipse">
            <a:avLst/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200" y="2700000"/>
            <a:ext cx="560000" cy="5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200" y="3450000"/>
            <a:ext cx="306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87A14"/>
                </a:solidFill>
                <a:latin typeface="Times New Roman"/>
              </a:rPr>
              <a:t>Thống kê mô tả &amp; phân phối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200" y="4000000"/>
            <a:ext cx="3060000" cy="2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df.describe() cho biến số; value_counts() cho biến phân loại.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Xác nhận mất cân bằng lớp Y/N ≈ 68.7% / 31.3% (đã thấy ở EDA).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000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C7293"/>
                </a:solidFill>
                <a:latin typeface="Times New Roman"/>
              </a:rPr>
              <a:t>CHƯƠNG 2 · TIỀN XỬ LÝ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Times New Roman"/>
              </a:rPr>
              <a:t>Bước 2: Tiền xử lý dữ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794"/>
                </a:solidFill>
                <a:latin typeface="Times New Roman"/>
              </a:rPr>
              <a:t>Dự đoán duyệt khoản vay  •  Nhóm 03  •  Học máy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794"/>
                </a:solidFill>
                <a:latin typeface="Times New Roman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000"/>
            <a:ext cx="11247120" cy="4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44576B"/>
                </a:solidFill>
                <a:latin typeface="Times New Roman"/>
              </a:rPr>
              <a:t>Ba nhóm thao tác chính biến dữ liệu thô thành đầu vào hợp lệ cho mô hình: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50000"/>
            <a:ext cx="35600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2150000"/>
            <a:ext cx="3560000" cy="6200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7200" y="2150000"/>
            <a:ext cx="306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Xử lý Missing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7200" y="2930000"/>
            <a:ext cx="306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4576B"/>
                </a:solidFill>
                <a:latin typeface="Times New Roman"/>
              </a:rPr>
              <a:t>Vấn đề: một số cột bị thiếu giá trị.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200" y="3750000"/>
            <a:ext cx="3060000" cy="1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Biến số: điền bằng Median (ít nhạy với ngoại lai).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Biến phân loại: điền bằng Mode (giá trị phổ biến nhất).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7200" y="5050000"/>
            <a:ext cx="1470000" cy="3400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Median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7200" y="5050000"/>
            <a:ext cx="1470000" cy="3400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Mode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0200" y="2150000"/>
            <a:ext cx="35600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50200" y="2150000"/>
            <a:ext cx="3560000" cy="620000"/>
          </a:xfrm>
          <a:prstGeom prst="roundRect">
            <a:avLst>
              <a:gd name="adj" fmla="val 20000"/>
            </a:avLst>
          </a:prstGeom>
          <a:solidFill>
            <a:srgbClr val="0B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0200" y="2150000"/>
            <a:ext cx="306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Encoding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0200" y="2930000"/>
            <a:ext cx="306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4576B"/>
                </a:solidFill>
                <a:latin typeface="Times New Roman"/>
              </a:rPr>
              <a:t>Vấn đề: mô hình chỉ nhận đầu vào dạng số.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0200" y="3750000"/>
            <a:ext cx="3060000" cy="1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Biến phân loại: One-Hot Encoding (vd. property_area).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Biến mục tiêu loan_status: mã hóa nhị phân Y = 1, N = 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0200" y="5050000"/>
            <a:ext cx="1470000" cy="340000"/>
          </a:xfrm>
          <a:prstGeom prst="roundRect">
            <a:avLst>
              <a:gd name="adj" fmla="val 30000"/>
            </a:avLst>
          </a:prstGeom>
          <a:solidFill>
            <a:srgbClr val="0B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One-Hot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0200" y="5050000"/>
            <a:ext cx="1470000" cy="340000"/>
          </a:xfrm>
          <a:prstGeom prst="roundRect">
            <a:avLst>
              <a:gd name="adj" fmla="val 30000"/>
            </a:avLst>
          </a:prstGeom>
          <a:solidFill>
            <a:srgbClr val="0B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Y=1 / N=0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3200" y="2150000"/>
            <a:ext cx="3560000" cy="35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3200" y="2150000"/>
            <a:ext cx="3560000" cy="620000"/>
          </a:xfrm>
          <a:prstGeom prst="roundRect">
            <a:avLst>
              <a:gd name="adj" fmla="val 2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200" y="2150000"/>
            <a:ext cx="3060000" cy="6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/>
              </a:rPr>
              <a:t>Scaling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200" y="2930000"/>
            <a:ext cx="30600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44576B"/>
                </a:solidFill>
                <a:latin typeface="Times New Roman"/>
              </a:rPr>
              <a:t>Vấn đề: các biến lệch thang đo (thu nhập ≫ kỳ hạn).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200" y="3750000"/>
            <a:ext cx="3060000" cy="1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StandardScaler: đưa về mean = 0, std = 1.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A1A1A"/>
                </a:solidFill>
                <a:latin typeface="Times New Roman"/>
              </a:rPr>
              <a:t>Giúp Logistic Regression và KNN hội tụ, so sánh công bằng.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93200" y="5050000"/>
            <a:ext cx="1470000" cy="340000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mean =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83200" y="5050000"/>
            <a:ext cx="1470000" cy="340000"/>
          </a:xfrm>
          <a:prstGeom prst="roundRect">
            <a:avLst>
              <a:gd name="adj" fmla="val 3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std =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000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C7293"/>
                </a:solidFill>
                <a:latin typeface="Times New Roman"/>
              </a:rPr>
              <a:t>CHƯƠNG 2 · TIỀN XỬ LÝ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Times New Roman"/>
              </a:rPr>
              <a:t>Bước 3: Chia tập Train/Test — tránh rò rỉ thông tin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794"/>
                </a:solidFill>
                <a:latin typeface="Times New Roman"/>
              </a:rPr>
              <a:t>Dự đoán duyệt khoản vay  •  Nhóm 03  •  Học máy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794"/>
                </a:solidFill>
                <a:latin typeface="Times New Roman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00000"/>
            <a:ext cx="6800000" cy="45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000" y="1850000"/>
            <a:ext cx="62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Times New Roman"/>
              </a:rPr>
              <a:t>Chia dữ liệu 600 bản ghi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0000" y="2350000"/>
            <a:ext cx="4941200" cy="8000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0000" y="2350000"/>
            <a:ext cx="49412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TRAIN 80%  (480 mẫu)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21200" y="2350000"/>
            <a:ext cx="1242800" cy="800000"/>
          </a:xfrm>
          <a:prstGeom prst="roundRect">
            <a:avLst>
              <a:gd name="adj" fmla="val 10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21200" y="2350000"/>
            <a:ext cx="1242800" cy="8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TEST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000" y="3200000"/>
            <a:ext cx="6214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44576B"/>
                </a:solidFill>
                <a:latin typeface="Times New Roman"/>
              </a:rPr>
              <a:t>(120 mẫu)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000" y="3650000"/>
            <a:ext cx="6200000" cy="3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0B3D62"/>
                </a:solidFill>
                <a:latin typeface="Times New Roman"/>
              </a:rPr>
              <a:t>stratify = y giữ nguyên tỷ lệ loan_status ở cả hai tập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000" y="4150000"/>
            <a:ext cx="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Times New Roman"/>
              </a:rPr>
              <a:t>Train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50000" y="4190000"/>
            <a:ext cx="2954100" cy="340000"/>
          </a:xfrm>
          <a:prstGeom prst="roundRect">
            <a:avLst>
              <a:gd name="adj" fmla="val 1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04100" y="4190000"/>
            <a:ext cx="1345900" cy="340000"/>
          </a:xfrm>
          <a:prstGeom prst="roundRect">
            <a:avLst>
              <a:gd name="adj" fmla="val 1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50000" y="4190000"/>
            <a:ext cx="2954100" cy="3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Y ≈ 68.7%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4100" y="4190000"/>
            <a:ext cx="1345900" cy="3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N ≈ 31.3%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000" y="4750000"/>
            <a:ext cx="900000" cy="4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Times New Roman"/>
              </a:rPr>
              <a:t>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50000" y="4790000"/>
            <a:ext cx="2954100" cy="340000"/>
          </a:xfrm>
          <a:prstGeom prst="roundRect">
            <a:avLst>
              <a:gd name="adj" fmla="val 10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4100" y="4790000"/>
            <a:ext cx="1345900" cy="340000"/>
          </a:xfrm>
          <a:prstGeom prst="roundRect">
            <a:avLst>
              <a:gd name="adj" fmla="val 10000"/>
            </a:avLst>
          </a:prstGeom>
          <a:solidFill>
            <a:srgbClr val="D953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50000" y="4790000"/>
            <a:ext cx="2954100" cy="3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Y ≈ 68.7%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4100" y="4790000"/>
            <a:ext cx="1345900" cy="3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N ≈ 31.3%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000" y="5400000"/>
            <a:ext cx="6200000" cy="6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44576B"/>
                </a:solidFill>
                <a:latin typeface="Times New Roman"/>
              </a:rPr>
              <a:t>Tỷ lệ lớp Y/N gần như giống nhau giữa Train và Test, nên kết quả đánh giá đáng tin cậy.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00000" y="1700000"/>
            <a:ext cx="4250000" cy="1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50000" y="1840000"/>
            <a:ext cx="375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Times New Roman"/>
              </a:rPr>
              <a:t>Vì sao chia trước khi xử lý?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0000" y="2220000"/>
            <a:ext cx="375000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Times New Roman"/>
              </a:rPr>
              <a:t>Chia ngay từ đầu để các phép Impute, Scale chỉ học từ tập Train — Test không bị lộ vào quá trình huấn luyện.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00000" y="3300000"/>
            <a:ext cx="4250000" cy="14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0000" y="3440000"/>
            <a:ext cx="375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3D62"/>
                </a:solidFill>
                <a:latin typeface="Times New Roman"/>
              </a:rPr>
              <a:t>Vì sao dùng stratify = 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0000" y="3820000"/>
            <a:ext cx="3750000" cy="8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Times New Roman"/>
              </a:rPr>
              <a:t>Dữ liệu mất cân bằng (~7:3); phân tầng đảm bảo tập Test vẫn đại diện đủ cả hai lớp.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00000" y="4900000"/>
            <a:ext cx="4250000" cy="135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0000" y="5040000"/>
            <a:ext cx="375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B87A14"/>
                </a:solidFill>
                <a:latin typeface="Times New Roman"/>
              </a:rPr>
              <a:t>Tái lập kết quả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0000" y="5420000"/>
            <a:ext cx="3750000" cy="7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Times New Roman"/>
              </a:rPr>
              <a:t>test_size = 0.2 và random_state = 42 cố định cho mọi lần chạy.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84048"/>
            <a:ext cx="9000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spc="200">
                <a:solidFill>
                  <a:srgbClr val="1C7293"/>
                </a:solidFill>
                <a:latin typeface="Times New Roman"/>
              </a:rPr>
              <a:t>CHƯƠNG 2 · TIỀN XỬ LÝ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500" b="1">
                <a:solidFill>
                  <a:srgbClr val="1A1A1A"/>
                </a:solidFill>
                <a:latin typeface="Times New Roman"/>
              </a:rPr>
              <a:t>Bước 4: Pipeline xử lý dữ liệu &amp; xuất cấu trúc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7A8794"/>
                </a:solidFill>
                <a:latin typeface="Times New Roman"/>
              </a:rPr>
              <a:t>Dự đoán duyệt khoản vay  •  Nhóm 03  •  Học máy cơ bản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>
                <a:solidFill>
                  <a:srgbClr val="7A8794"/>
                </a:solidFill>
                <a:latin typeface="Times New Roman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0000"/>
            <a:ext cx="1124712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44576B"/>
                </a:solidFill>
                <a:latin typeface="Times New Roman"/>
              </a:rPr>
              <a:t>ColumnTransformer đóng gói toàn bộ xử lý đặc trưng, tách riêng hai nhánh số và phân loại: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50000"/>
            <a:ext cx="2200000" cy="1900000"/>
          </a:xfrm>
          <a:prstGeom prst="roundRect">
            <a:avLst>
              <a:gd name="adj" fmla="val 6000"/>
            </a:avLst>
          </a:prstGeom>
          <a:solidFill>
            <a:srgbClr val="0B3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200" y="2150000"/>
            <a:ext cx="2000000" cy="1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Dữ liệu đầu vào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(Train)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00000" y="2150000"/>
            <a:ext cx="6100000" cy="8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00000" y="2150000"/>
            <a:ext cx="1150000" cy="8800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0000" y="2150000"/>
            <a:ext cx="1150000" cy="8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num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0000" y="2210000"/>
            <a:ext cx="4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576B"/>
                </a:solidFill>
                <a:latin typeface="Times New Roman"/>
              </a:rPr>
              <a:t>Đặc trưng số (applicantincome, loanamount, …)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0000" y="2580000"/>
            <a:ext cx="2150000" cy="3400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Impute: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0000" y="2580000"/>
            <a:ext cx="330000" cy="3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1C7293"/>
                </a:solidFill>
                <a:latin typeface="Times New Roman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80000" y="2580000"/>
            <a:ext cx="2150000" cy="340000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StandardScaler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00000" y="3170000"/>
            <a:ext cx="6100000" cy="88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000000" y="3170000"/>
            <a:ext cx="1150000" cy="880000"/>
          </a:xfrm>
          <a:prstGeom prst="roundRect">
            <a:avLst>
              <a:gd name="adj" fmla="val 12000"/>
            </a:avLst>
          </a:prstGeom>
          <a:solidFill>
            <a:srgbClr val="B8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00000" y="3170000"/>
            <a:ext cx="1150000" cy="8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cat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230000"/>
            <a:ext cx="47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4576B"/>
                </a:solidFill>
                <a:latin typeface="Times New Roman"/>
              </a:rPr>
              <a:t>Đặc trưng phân loại (gender, married, property_area, …)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0000" y="3600000"/>
            <a:ext cx="2150000" cy="340000"/>
          </a:xfrm>
          <a:prstGeom prst="roundRect">
            <a:avLst>
              <a:gd name="adj" fmla="val 30000"/>
            </a:avLst>
          </a:prstGeom>
          <a:solidFill>
            <a:srgbClr val="B8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Impute: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0000" y="3600000"/>
            <a:ext cx="330000" cy="3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B87A14"/>
                </a:solidFill>
                <a:latin typeface="Times New Roman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80000" y="3600000"/>
            <a:ext cx="2150000" cy="340000"/>
          </a:xfrm>
          <a:prstGeom prst="roundRect">
            <a:avLst>
              <a:gd name="adj" fmla="val 30000"/>
            </a:avLst>
          </a:prstGeom>
          <a:solidFill>
            <a:srgbClr val="B87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0000" rIns="4000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Times New Roman"/>
              </a:rPr>
              <a:t>One-Hot Encoding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7200" y="2150000"/>
            <a:ext cx="343000" cy="1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4576B"/>
                </a:solidFill>
                <a:latin typeface="Times New Roman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0000" y="2150000"/>
            <a:ext cx="343000" cy="1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44576B"/>
                </a:solidFill>
                <a:latin typeface="Times New Roman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43000" y="2150000"/>
            <a:ext cx="2300000" cy="1900000"/>
          </a:xfrm>
          <a:prstGeom prst="roundRect">
            <a:avLst>
              <a:gd name="adj" fmla="val 6000"/>
            </a:avLst>
          </a:prstGeom>
          <a:solidFill>
            <a:srgbClr val="3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3000" y="2150000"/>
            <a:ext cx="2100000" cy="1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Ma trận đặc trưng</a:t>
            </a:r>
          </a:p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Times New Roman"/>
              </a:rPr>
              <a:t>→ đưa vào mô hình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300000"/>
            <a:ext cx="5500000" cy="1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7200" y="4440000"/>
            <a:ext cx="50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1C7293"/>
                </a:solidFill>
                <a:latin typeface="Times New Roman"/>
              </a:rPr>
              <a:t>fit chỉ trên Train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7200" y="4820000"/>
            <a:ext cx="500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Times New Roman"/>
              </a:rPr>
              <a:t>Các tham số (median, mode, mean, std, danh mục One-Hot) học từ Train, sau đó transform cho Test — không rò rỉ thông tin.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0000" y="4300000"/>
            <a:ext cx="5550000" cy="16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50000" y="4440000"/>
            <a:ext cx="505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0B3D62"/>
                </a:solidFill>
                <a:latin typeface="Times New Roman"/>
              </a:rPr>
              <a:t>Xuất cấu trúc Schema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0000" y="4820000"/>
            <a:ext cx="5050000" cy="1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Times New Roman"/>
              </a:rPr>
              <a:t>Ghi ra schema.json: tên cột, kiểu dữ liệu, giá trị hợp lệ. Backend dùng để validate đầu vào, đồng bộ train ↔ serving.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7416</Words>
  <Application>WPS Presentation</Application>
  <PresentationFormat>On-screen Show (16:9)</PresentationFormat>
  <Paragraphs>396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Calibri</vt:lpstr>
      <vt:lpstr>Calibri</vt:lpstr>
      <vt:lpstr>Bookman Old Style</vt:lpstr>
      <vt:lpstr>Segoe Print</vt:lpstr>
      <vt:lpstr>Bookman Old Style</vt:lpstr>
      <vt:lpstr>Bookman Old Style</vt:lpstr>
      <vt:lpstr>Courier New</vt:lpstr>
      <vt:lpstr>Courier New</vt:lpstr>
      <vt:lpstr>Courier New</vt:lpstr>
      <vt:lpstr>Microsoft YaHei</vt:lpstr>
      <vt:lpstr>Arial Unicode MS</vt:lpstr>
      <vt:lpstr>Times New Roman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Quân Đào</cp:lastModifiedBy>
  <cp:revision>4</cp:revision>
  <dcterms:created xsi:type="dcterms:W3CDTF">2026-09-27T13:01:00Z</dcterms:created>
  <dcterms:modified xsi:type="dcterms:W3CDTF">2026-09-27T13:13:29Z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8AEFA2FF07764C0C96B45FF86D26B136_12</vt:lpwstr>
  </property>
  <property fmtid="{D5CDD505-2E9C-101B-9397-08002B2CF9AE}" pid="3" name="KSOProductBuildVer">
    <vt:lpwstr>1033-12.1.0.28485</vt:lpwstr>
  </property>
</Properties>
</file>